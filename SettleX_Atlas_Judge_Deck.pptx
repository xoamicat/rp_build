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3b2d4a70e4c38" /><Relationship Type="http://schemas.openxmlformats.org/officeDocument/2006/relationships/extended-properties" Target="/docProps/app.xml" Id="Refe7fe9e082b4ba9" /><Relationship Type="http://schemas.openxmlformats.org/officeDocument/2006/relationships/officeDocument" Target="/ppt/presentation.xml" Id="Ra4434bcfe71c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31dc571364247"/>
  </p:sldMasterIdLst>
  <p:notesMasterIdLst>
    <p:notesMasterId xmlns:r="http://schemas.openxmlformats.org/officeDocument/2006/relationships" r:id="R5323b1ccd5454a5f"/>
  </p:notesMasterIdLst>
  <p:sldIdLst>
    <p:sldId xmlns:r="http://schemas.openxmlformats.org/officeDocument/2006/relationships" id="256" r:id="R3b61986189d84115"/>
    <p:sldId xmlns:r="http://schemas.openxmlformats.org/officeDocument/2006/relationships" id="257" r:id="R623c749aa9c34f23"/>
    <p:sldId xmlns:r="http://schemas.openxmlformats.org/officeDocument/2006/relationships" id="258" r:id="R9f551d3815754181"/>
    <p:sldId xmlns:r="http://schemas.openxmlformats.org/officeDocument/2006/relationships" id="259" r:id="R9d1aa6a7ccf445d5"/>
    <p:sldId xmlns:r="http://schemas.openxmlformats.org/officeDocument/2006/relationships" id="260" r:id="R0cf04caa7a354ca3"/>
    <p:sldId xmlns:r="http://schemas.openxmlformats.org/officeDocument/2006/relationships" id="261" r:id="R8a3475ac27fa43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19141de37344df" /><Relationship Type="http://schemas.openxmlformats.org/officeDocument/2006/relationships/slideMaster" Target="/ppt/slideMasters/slideMaster1.xml" Id="R79d31dc571364247" /><Relationship Type="http://schemas.openxmlformats.org/officeDocument/2006/relationships/notesMaster" Target="/ppt/notesMasters/notesMaster1.xml" Id="R5323b1ccd5454a5f" /><Relationship Type="http://schemas.openxmlformats.org/officeDocument/2006/relationships/presProps" Target="/ppt/presProps.xml" Id="R33703bfd8a344847" /><Relationship Type="http://schemas.openxmlformats.org/officeDocument/2006/relationships/tableStyles" Target="/ppt/tableStyles.xml" Id="R7c336eadf9a648c9" /><Relationship Type="http://schemas.openxmlformats.org/officeDocument/2006/relationships/slide" Target="/ppt/slides/slide1.xml" Id="R3b61986189d84115" /><Relationship Type="http://schemas.openxmlformats.org/officeDocument/2006/relationships/slide" Target="/ppt/slides/slide2.xml" Id="R623c749aa9c34f23" /><Relationship Type="http://schemas.openxmlformats.org/officeDocument/2006/relationships/slide" Target="/ppt/slides/slide3.xml" Id="R9f551d3815754181" /><Relationship Type="http://schemas.openxmlformats.org/officeDocument/2006/relationships/slide" Target="/ppt/slides/slide4.xml" Id="R9d1aa6a7ccf445d5" /><Relationship Type="http://schemas.openxmlformats.org/officeDocument/2006/relationships/slide" Target="/ppt/slides/slide5.xml" Id="R0cf04caa7a354ca3" /><Relationship Type="http://schemas.openxmlformats.org/officeDocument/2006/relationships/slide" Target="/ppt/slides/slide6.xml" Id="R8a3475ac27fa43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82d12dc79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9b0159b3d7424f" /><Relationship Type="http://schemas.openxmlformats.org/officeDocument/2006/relationships/notesMaster" Target="/ppt/notesMasters/notesMaster1.xml" Id="Re8d737b8400d4b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d2282cb4254296" /><Relationship Type="http://schemas.openxmlformats.org/officeDocument/2006/relationships/notesMaster" Target="/ppt/notesMasters/notesMaster1.xml" Id="R850c71698a9840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700a065544504" /><Relationship Type="http://schemas.openxmlformats.org/officeDocument/2006/relationships/notesMaster" Target="/ppt/notesMasters/notesMaster1.xml" Id="R0a4a7cb7f174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f3e73b5fe44a2a" /><Relationship Type="http://schemas.openxmlformats.org/officeDocument/2006/relationships/notesMaster" Target="/ppt/notesMasters/notesMaster1.xml" Id="R5d2dd448812044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eef6dbfabd4a1b" /><Relationship Type="http://schemas.openxmlformats.org/officeDocument/2006/relationships/notesMaster" Target="/ppt/notesMasters/notesMaster1.xml" Id="R6c50931477204f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f0282079cc4591" /><Relationship Type="http://schemas.openxmlformats.org/officeDocument/2006/relationships/notesMaster" Target="/ppt/notesMasters/notesMaster1.xml" Id="R23c00f889e9a47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framing and implemented behavior: SettleX Atlas repository, SUBMISSION.md and GAP_ANALYSIS.md.</a:t>
            </a:r>
          </a:p>
          <a:p xmlns:a="http://schemas.openxmlformats.org/drawingml/2006/main">
            <a:r>
              <a:t>- No external statistic is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Gap hypothesis: GAP_ANALYSIS.md, based on publicly documented Razorpay Agent Studio, Orders, webhooks and Settlement Recon surfaces.</a:t>
            </a:r>
          </a:p>
          <a:p xmlns:a="http://schemas.openxmlformats.org/drawingml/2006/main">
            <a:r>
              <a:t>- No adoption or loss-rate statistic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Implemented drift policy: sakshi/offer_lock.py and tests/test_offer_lock.py.</a:t>
            </a:r>
          </a:p>
          <a:p xmlns:a="http://schemas.openxmlformats.org/drawingml/2006/main">
            <a:r>
              <a:t>- Razorpay Orders notes limits: Razorpay Orders API documentation, linked in INTEGRATION.md.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Integration contract: INTEGRATION.md.</a:t>
            </a:r>
          </a:p>
          <a:p xmlns:a="http://schemas.openxmlformats.org/drawingml/2006/main">
            <a:r>
              <a:t>- Razorpay Orders API and payment webhooks documentation, linked there.</a:t>
            </a:r>
          </a:p>
          <a:p xmlns:a="http://schemas.openxmlformats.org/drawingml/2006/main">
            <a:r>
              <a:t>- Architecture is an implementation proposal; no private Razorpay feature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Bounded composer: sakshi/offer_composer.py, sakshi/offer_lock.py, tests/test_offer_composer.py.</a:t>
            </a:r>
          </a:p>
          <a:p xmlns:a="http://schemas.openxmlformats.org/drawingml/2006/main">
            <a:r>
              <a:t>- Model provenance and no-consent boundary: VALIDATION.md.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- 95 checks: local pytest suite at deck creation time.</a:t>
            </a:r>
          </a:p>
          <a:p xmlns:a="http://schemas.openxmlformats.org/drawingml/2006/main">
            <a:r>
              <a:t>- Test Mode artifact: data/evidence/razorpay-test-mode-atlas_verify_1787943567.json.</a:t>
            </a:r>
          </a:p>
          <a:p xmlns:a="http://schemas.openxmlformats.org/drawingml/2006/main">
            <a:r>
              <a:t>- Durable restart proof and pilot design: VALIDATION.md and PILOT_PLAN.md.</a:t>
            </a:r>
          </a:p>
          <a:p xmlns:a="http://schemas.openxmlformats.org/drawingml/2006/main">
            <a:r>
              <a:t>- External Razorpay payment capture is not claimed; WEBHOOK_REHEARSAL.md records the remaining public-HTTPS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cf43e8c04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b2e152d814ebf" /><Relationship Type="http://schemas.openxmlformats.org/officeDocument/2006/relationships/slideLayout" Target="/ppt/slideLayouts/slideLayout1.xml" Id="Refdbafd362e5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bafd362e547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858a331304eb6" /><Relationship Type="http://schemas.openxmlformats.org/officeDocument/2006/relationships/notesSlide" Target="/ppt/notesSlides/notesSlide1.xml" Id="R76eaba846847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e6ee5fb244369" /><Relationship Type="http://schemas.openxmlformats.org/officeDocument/2006/relationships/notesSlide" Target="/ppt/notesSlides/notesSlide2.xml" Id="Re4ed9ea80e224b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9e6ececa14566" /><Relationship Type="http://schemas.openxmlformats.org/officeDocument/2006/relationships/notesSlide" Target="/ppt/notesSlides/notesSlide3.xml" Id="Rd40dd417731747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43eb7fb584fb8" /><Relationship Type="http://schemas.openxmlformats.org/officeDocument/2006/relationships/notesSlide" Target="/ppt/notesSlides/notesSlide4.xml" Id="R809b5b7c3ed5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0c8e5d146476c" /><Relationship Type="http://schemas.openxmlformats.org/officeDocument/2006/relationships/notesSlide" Target="/ppt/notesSlides/notesSlide5.xml" Id="R17a018e7b677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41b45e36748ca" /><Relationship Type="http://schemas.openxmlformats.org/officeDocument/2006/relationships/notesSlide" Target="/ppt/notesSlides/notesSlide6.xml" Id="R20fa0eb1dc9c4d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navy-field">
            <a:extLst xmlns:a="http://schemas.openxmlformats.org/drawingml/2006/main">
              <a:ext uri="{FF2B5EF4-FFF2-40B4-BE49-F238E27FC236}">
                <a16:creationId xmlns:a16="http://schemas.microsoft.com/office/drawing/2014/main" id="{55A760B2-CA1E-4D7C-A35A-A6A065DB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82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895C37C-CC09-492F-A90D-7E3050F5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95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</a:defRPr>
            </a:pPr>
            <a:r>
              <a:rPr sz="1050" b="1">
                <a:solidFill>
                  <a:srgbClr val="7DD3FC"/>
                </a:solidFill>
              </a:rPr>
              <a:t>RAZORPAY BUILDATHON 2026  •  TRACK 5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A58AEED-5E58-4735-9B86-2AEE2796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666750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payment was valid.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promise changed.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6BA49E9-ACD6-4AE0-91F9-77E96CAD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810250" cy="85725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CFF"/>
                </a:solidFill>
              </a:defRPr>
            </a:pPr>
            <a:r>
              <a:rPr sz="1800" b="0">
                <a:solidFill>
                  <a:srgbClr val="D7ECFF"/>
                </a:solidFill>
              </a:rPr>
              <a:t>SettleX Atlas preserves the exact offer an AI buyer saw—and stops a silent change before fulfilment or renewal.</a:t>
            </a:r>
          </a:p>
        </p:txBody>
      </p:sp>
      <p:sp>
        <p:nvSpPr>
          <p:cNvPr id="5" name="offer-card">
            <a:extLst xmlns:a="http://schemas.openxmlformats.org/drawingml/2006/main">
              <a:ext uri="{FF2B5EF4-FFF2-40B4-BE49-F238E27FC236}">
                <a16:creationId xmlns:a16="http://schemas.microsoft.com/office/drawing/2014/main" id="{6142AA7A-DF6E-4790-BFB0-22606FBB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62050"/>
            <a:ext cx="2952750" cy="34290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B9EA"/>
            </a:solidFill>
            <a:prstDash val="solid"/>
          </a:ln>
        </p:spPr>
      </p:sp>
      <p:sp>
        <p:nvSpPr>
          <p:cNvPr id="6" name="card-label">
            <a:extLst xmlns:a="http://schemas.openxmlformats.org/drawingml/2006/main">
              <a:ext uri="{FF2B5EF4-FFF2-40B4-BE49-F238E27FC236}">
                <a16:creationId xmlns:a16="http://schemas.microsoft.com/office/drawing/2014/main" id="{D4E30A01-7D4B-4244-AF54-7D59F2E3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2190750" cy="1809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985"/>
                </a:solidFill>
              </a:defRPr>
            </a:pPr>
            <a:r>
              <a:rPr sz="975" b="1">
                <a:solidFill>
                  <a:srgbClr val="075985"/>
                </a:solidFill>
              </a:rPr>
              <a:t>BUYER-APPROVED OFFER</a:t>
            </a:r>
          </a:p>
        </p:txBody>
      </p:sp>
      <p:sp>
        <p:nvSpPr>
          <p:cNvPr id="7" name="card-terms">
            <a:extLst xmlns:a="http://schemas.openxmlformats.org/drawingml/2006/main">
              <a:ext uri="{FF2B5EF4-FFF2-40B4-BE49-F238E27FC236}">
                <a16:creationId xmlns:a16="http://schemas.microsoft.com/office/drawing/2014/main" id="{7CC98D36-27E7-452D-B781-66824B2D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</a:defRPr>
            </a:pPr>
            <a:r>
              <a:rPr sz="1800" b="1">
                <a:solidFill>
                  <a:srgbClr val="10243E"/>
                </a:solidFill>
              </a:rPr>
              <a:t>2 × Margherita</a:t>
            </a:r>
          </a:p>
          <a:p xmlns:a="http://schemas.openxmlformats.org/drawingml/2006/main">
            <a:pPr algn="l">
              <a:defRPr sz="1800" b="1">
                <a:solidFill>
                  <a:srgbClr val="10243E"/>
                </a:solidFill>
              </a:defRPr>
            </a:pPr>
            <a:r>
              <a:rPr sz="1800" b="1">
                <a:solidFill>
                  <a:srgbClr val="10243E"/>
                </a:solidFill>
              </a:rPr>
              <a:t>₹680 • Saturday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F67DD3C9-C652-49C7-ACD1-449F3E9D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1717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8E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rift">
            <a:extLst xmlns:a="http://schemas.openxmlformats.org/drawingml/2006/main">
              <a:ext uri="{FF2B5EF4-FFF2-40B4-BE49-F238E27FC236}">
                <a16:creationId xmlns:a16="http://schemas.microsoft.com/office/drawing/2014/main" id="{9B70F5D4-DA73-4262-8CB0-3EB8F6BF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90875"/>
            <a:ext cx="2190750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6207"/>
                </a:solidFill>
              </a:defRPr>
            </a:pPr>
            <a:r>
              <a:rPr sz="1350" b="1">
                <a:solidFill>
                  <a:srgbClr val="A16207"/>
                </a:solidFill>
              </a:rPr>
              <a:t>Later: price ↑, item added, delivery delayed</a:t>
            </a:r>
          </a:p>
        </p:txBody>
      </p:sp>
      <p:sp>
        <p:nvSpPr>
          <p:cNvPr id="10" name="outcome">
            <a:extLst xmlns:a="http://schemas.openxmlformats.org/drawingml/2006/main">
              <a:ext uri="{FF2B5EF4-FFF2-40B4-BE49-F238E27FC236}">
                <a16:creationId xmlns:a16="http://schemas.microsoft.com/office/drawing/2014/main" id="{D9C164A3-93C6-4397-A901-D34F294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21717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</a:defRPr>
            </a:pPr>
            <a:r>
              <a:rPr sz="1425" b="1">
                <a:solidFill>
                  <a:srgbClr val="047857"/>
                </a:solidFill>
              </a:rPr>
              <a:t>ATLAS → RECONFIRM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F016CD07-CD08-4519-BC34-5EA7A9D0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ttom">
            <a:extLst xmlns:a="http://schemas.openxmlformats.org/drawingml/2006/main">
              <a:ext uri="{FF2B5EF4-FFF2-40B4-BE49-F238E27FC236}">
                <a16:creationId xmlns:a16="http://schemas.microsoft.com/office/drawing/2014/main" id="{C8D96A91-1A3F-4AED-B917-CDA4A57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095875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DBF7"/>
                </a:solidFill>
              </a:defRPr>
            </a:pPr>
            <a:r>
              <a:rPr sz="1275" b="0">
                <a:solidFill>
                  <a:srgbClr val="B9DBF7"/>
                </a:solidFill>
              </a:rPr>
              <a:t>Payment rails stay with Razorpay. The commercial promise gets a witness.</a:t>
            </a:r>
          </a:p>
        </p:txBody>
      </p:sp>
    </p:spTree>
    <p:extLst>
      <p:ext uri="{BB962C8B-B14F-4D97-AF65-F5344CB8AC3E}">
        <p14:creationId xmlns:p14="http://schemas.microsoft.com/office/powerpoint/2010/main" val="178761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910A6778-F959-4074-B605-E066255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985"/>
                </a:solidFill>
              </a:defRPr>
            </a:pPr>
            <a:r>
              <a:rPr sz="975" b="1">
                <a:solidFill>
                  <a:srgbClr val="075985"/>
                </a:solidFill>
              </a:rPr>
              <a:t>THE UNSOLVED MOMENT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012F105-B95E-44DE-955B-36E4F2FC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E"/>
                </a:solidFill>
              </a:defRPr>
            </a:pPr>
            <a:r>
              <a:rPr sz="3150" b="1">
                <a:solidFill>
                  <a:srgbClr val="10243E"/>
                </a:solidFill>
              </a:rPr>
              <a:t>Authorisation is not proof of the full commercial promise.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A764FA-F7E5-4C4F-BE8B-C159497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620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E"/>
                </a:solidFill>
              </a:defRPr>
            </a:pPr>
            <a:r>
              <a:rPr sz="1500" b="0">
                <a:solidFill>
                  <a:srgbClr val="52657E"/>
                </a:solidFill>
              </a:rPr>
              <a:t>In an agentic journey, the buyer may approve a dynamic offer before the merchant’s catalogue or fulfilment system changes.</a:t>
            </a:r>
          </a:p>
        </p:txBody>
      </p:sp>
      <p:sp>
        <p:nvSpPr>
          <p:cNvPr id="4" name="problem-0">
            <a:extLst xmlns:a="http://schemas.openxmlformats.org/drawingml/2006/main">
              <a:ext uri="{FF2B5EF4-FFF2-40B4-BE49-F238E27FC236}">
                <a16:creationId xmlns:a16="http://schemas.microsoft.com/office/drawing/2014/main" id="{448B1E92-4287-4530-A856-FBF7CBF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5" name="step-0">
            <a:extLst xmlns:a="http://schemas.openxmlformats.org/drawingml/2006/main">
              <a:ext uri="{FF2B5EF4-FFF2-40B4-BE49-F238E27FC236}">
                <a16:creationId xmlns:a16="http://schemas.microsoft.com/office/drawing/2014/main" id="{76151CE5-0757-40F0-8252-CF94D684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985"/>
                </a:solidFill>
              </a:defRPr>
            </a:pPr>
            <a:r>
              <a:rPr sz="1050" b="1">
                <a:solidFill>
                  <a:srgbClr val="075985"/>
                </a:solidFill>
              </a:rPr>
              <a:t>01  BUYER SEES</a:t>
            </a:r>
          </a:p>
        </p:txBody>
      </p:sp>
      <p:sp>
        <p:nvSpPr>
          <p:cNvPr id="6" name="copy-0">
            <a:extLst xmlns:a="http://schemas.openxmlformats.org/drawingml/2006/main">
              <a:ext uri="{FF2B5EF4-FFF2-40B4-BE49-F238E27FC236}">
                <a16:creationId xmlns:a16="http://schemas.microsoft.com/office/drawing/2014/main" id="{E3D6D6AB-FCB2-40F6-AC53-8FFA278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2479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SKU · price · delivery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returns · substitutions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renewal terms</a:t>
            </a:r>
          </a:p>
        </p:txBody>
      </p:sp>
      <p:sp>
        <p:nvSpPr>
          <p:cNvPr id="7" name="problem-1">
            <a:extLst xmlns:a="http://schemas.openxmlformats.org/drawingml/2006/main">
              <a:ext uri="{FF2B5EF4-FFF2-40B4-BE49-F238E27FC236}">
                <a16:creationId xmlns:a16="http://schemas.microsoft.com/office/drawing/2014/main" id="{2194478F-F615-40B4-AAD5-9D23CFC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37DE5BA7-23FE-437B-A5F3-887DEAEE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985"/>
                </a:solidFill>
              </a:defRPr>
            </a:pPr>
            <a:r>
              <a:rPr sz="1050" b="1">
                <a:solidFill>
                  <a:srgbClr val="075985"/>
                </a:solidFill>
              </a:rPr>
              <a:t>02  PAYMENT SUCCEEDS</a:t>
            </a:r>
          </a:p>
        </p:txBody>
      </p:sp>
      <p:sp>
        <p:nvSpPr>
          <p:cNvPr id="9" name="copy-1">
            <a:extLst xmlns:a="http://schemas.openxmlformats.org/drawingml/2006/main">
              <a:ext uri="{FF2B5EF4-FFF2-40B4-BE49-F238E27FC236}">
                <a16:creationId xmlns:a16="http://schemas.microsoft.com/office/drawing/2014/main" id="{D5F6380C-AA09-4454-92E3-C6D7FF1F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2479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Razorpay authorises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and records money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movement</a:t>
            </a:r>
          </a:p>
        </p:txBody>
      </p:sp>
      <p:sp>
        <p:nvSpPr>
          <p:cNvPr id="10" name="problem-2">
            <a:extLst xmlns:a="http://schemas.openxmlformats.org/drawingml/2006/main">
              <a:ext uri="{FF2B5EF4-FFF2-40B4-BE49-F238E27FC236}">
                <a16:creationId xmlns:a16="http://schemas.microsoft.com/office/drawing/2014/main" id="{9A3FCF2E-A92C-4B7B-8059-CBDF78F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28575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CB7A"/>
            </a:solidFill>
            <a:prstDash val="solid"/>
          </a:ln>
        </p:spPr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1E9F48B-E168-4106-A18F-D5F2FE2F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6207"/>
                </a:solidFill>
              </a:defRPr>
            </a:pPr>
            <a:r>
              <a:rPr sz="1050" b="1">
                <a:solidFill>
                  <a:srgbClr val="A16207"/>
                </a:solidFill>
              </a:rPr>
              <a:t>03  FULFILMENT CHANGES</a:t>
            </a:r>
          </a:p>
        </p:txBody>
      </p:sp>
      <p:sp>
        <p:nvSpPr>
          <p:cNvPr id="12" name="copy-2">
            <a:extLst xmlns:a="http://schemas.openxmlformats.org/drawingml/2006/main">
              <a:ext uri="{FF2B5EF4-FFF2-40B4-BE49-F238E27FC236}">
                <a16:creationId xmlns:a16="http://schemas.microsoft.com/office/drawing/2014/main" id="{583F4B53-F508-426A-AA38-5BEA6F6F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2479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New catalogue or OMS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terms can silently</a:t>
            </a:r>
          </a:p>
          <a:p xmlns:a="http://schemas.openxmlformats.org/drawingml/2006/main">
            <a:pPr algn="l">
              <a:defRPr sz="1725" b="1">
                <a:solidFill>
                  <a:srgbClr val="10243E"/>
                </a:solidFill>
              </a:defRPr>
            </a:pPr>
            <a:r>
              <a:rPr sz="1725" b="1">
                <a:solidFill>
                  <a:srgbClr val="10243E"/>
                </a:solidFill>
              </a:rPr>
              <a:t>diverge later</a:t>
            </a:r>
          </a:p>
        </p:txBody>
      </p:sp>
      <p:sp>
        <p:nvSpPr>
          <p:cNvPr id="13" name="thesis">
            <a:extLst xmlns:a="http://schemas.openxmlformats.org/drawingml/2006/main">
              <a:ext uri="{FF2B5EF4-FFF2-40B4-BE49-F238E27FC236}">
                <a16:creationId xmlns:a16="http://schemas.microsoft.com/office/drawing/2014/main" id="{2711A5B5-4194-4CD7-B03F-F3A6501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715500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2C5C"/>
                </a:solidFill>
              </a:defRPr>
            </a:pPr>
            <a:r>
              <a:rPr sz="1725" b="1">
                <a:solidFill>
                  <a:srgbClr val="082C5C"/>
                </a:solidFill>
              </a:rPr>
              <a:t>The gap is post-consent commercial drift—not fraud scoring, checkout replacement, or generic reconciliation.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9D144B7-92E4-4CE9-972B-344DF3E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SETTLEX ATLAS  •  RAZORPAY BUILDATHON 2026  •  OPEN INNOVATION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775ABD0D-7C79-425F-802C-31983A6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9340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E5AE5A0-A17D-418C-A13A-2B309286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985"/>
                </a:solidFill>
              </a:defRPr>
            </a:pPr>
            <a:r>
              <a:rPr sz="975" b="1">
                <a:solidFill>
                  <a:srgbClr val="075985"/>
                </a:solidFill>
              </a:rPr>
              <a:t>THE PRODUCT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1354744-17F3-4B50-9FAC-8668B4F3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E"/>
                </a:solidFill>
              </a:defRPr>
            </a:pPr>
            <a:r>
              <a:rPr sz="3150" b="1">
                <a:solidFill>
                  <a:srgbClr val="10243E"/>
                </a:solidFill>
              </a:rPr>
              <a:t>Atlas freezes the promise, then compares it before the next irreversible action.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356962A-7225-48C2-A23B-629CB0F3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620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E"/>
                </a:solidFill>
              </a:defRPr>
            </a:pPr>
            <a:r>
              <a:rPr sz="1500" b="0">
                <a:solidFill>
                  <a:srgbClr val="52657E"/>
                </a:solidFill>
              </a:rPr>
              <a:t>The final decision is a deterministic field-level diff—not an opaque AI score.</a:t>
            </a:r>
          </a:p>
        </p:txBody>
      </p:sp>
      <p:sp>
        <p:nvSpPr>
          <p:cNvPr id="4" name="flow-0">
            <a:extLst xmlns:a="http://schemas.openxmlformats.org/drawingml/2006/main">
              <a:ext uri="{FF2B5EF4-FFF2-40B4-BE49-F238E27FC236}">
                <a16:creationId xmlns:a16="http://schemas.microsoft.com/office/drawing/2014/main" id="{9057B306-4C7A-4592-8519-F4A7F634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5" name="flow-1">
            <a:extLst xmlns:a="http://schemas.openxmlformats.org/drawingml/2006/main">
              <a:ext uri="{FF2B5EF4-FFF2-40B4-BE49-F238E27FC236}">
                <a16:creationId xmlns:a16="http://schemas.microsoft.com/office/drawing/2014/main" id="{10ECBF39-8B21-43E8-8D46-55862577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6" name="flow-2">
            <a:extLst xmlns:a="http://schemas.openxmlformats.org/drawingml/2006/main">
              <a:ext uri="{FF2B5EF4-FFF2-40B4-BE49-F238E27FC236}">
                <a16:creationId xmlns:a16="http://schemas.microsoft.com/office/drawing/2014/main" id="{7889F271-7DF7-4BB7-B009-6B2FB757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037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7" name="flow-3">
            <a:extLst xmlns:a="http://schemas.openxmlformats.org/drawingml/2006/main">
              <a:ext uri="{FF2B5EF4-FFF2-40B4-BE49-F238E27FC236}">
                <a16:creationId xmlns:a16="http://schemas.microsoft.com/office/drawing/2014/main" id="{CAD1C4CB-244C-4FB6-B693-FCFFC9A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037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81300" y="37147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29250" y="37147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077200" y="37147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sp>
        <p:nvSpPr>
          <p:cNvPr id="11" name="flow-num-0">
            <a:extLst xmlns:a="http://schemas.openxmlformats.org/drawingml/2006/main">
              <a:ext uri="{FF2B5EF4-FFF2-40B4-BE49-F238E27FC236}">
                <a16:creationId xmlns:a16="http://schemas.microsoft.com/office/drawing/2014/main" id="{5AE6572E-FFA3-4D38-8461-E0217A6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01</a:t>
            </a:r>
          </a:p>
        </p:txBody>
      </p:sp>
      <p:sp>
        <p:nvSpPr>
          <p:cNvPr id="12" name="flow-text-0">
            <a:extLst xmlns:a="http://schemas.openxmlformats.org/drawingml/2006/main">
              <a:ext uri="{FF2B5EF4-FFF2-40B4-BE49-F238E27FC236}">
                <a16:creationId xmlns:a16="http://schemas.microsoft.com/office/drawing/2014/main" id="{553A931F-9B1B-4866-9421-A8000A8B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666875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Render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buyer-visible offer</a:t>
            </a:r>
          </a:p>
        </p:txBody>
      </p:sp>
      <p:sp>
        <p:nvSpPr>
          <p:cNvPr id="13" name="flow-num-1">
            <a:extLst xmlns:a="http://schemas.openxmlformats.org/drawingml/2006/main">
              <a:ext uri="{FF2B5EF4-FFF2-40B4-BE49-F238E27FC236}">
                <a16:creationId xmlns:a16="http://schemas.microsoft.com/office/drawing/2014/main" id="{2B2E8051-624D-4E4C-BC84-9320B298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02</a:t>
            </a:r>
          </a:p>
        </p:txBody>
      </p:sp>
      <p:sp>
        <p:nvSpPr>
          <p:cNvPr id="14" name="flow-text-1">
            <a:extLst xmlns:a="http://schemas.openxmlformats.org/drawingml/2006/main">
              <a:ext uri="{FF2B5EF4-FFF2-40B4-BE49-F238E27FC236}">
                <a16:creationId xmlns:a16="http://schemas.microsoft.com/office/drawing/2014/main" id="{44283CDF-FF49-4CC5-843F-F5E59E5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1666875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Sign canonical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Offer Lock</a:t>
            </a:r>
          </a:p>
        </p:txBody>
      </p:sp>
      <p:sp>
        <p:nvSpPr>
          <p:cNvPr id="15" name="flow-num-2">
            <a:extLst xmlns:a="http://schemas.openxmlformats.org/drawingml/2006/main">
              <a:ext uri="{FF2B5EF4-FFF2-40B4-BE49-F238E27FC236}">
                <a16:creationId xmlns:a16="http://schemas.microsoft.com/office/drawing/2014/main" id="{1A08FC79-A3FB-4850-B78C-9A29F92D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03</a:t>
            </a:r>
          </a:p>
        </p:txBody>
      </p:sp>
      <p:sp>
        <p:nvSpPr>
          <p:cNvPr id="16" name="flow-text-2">
            <a:extLst xmlns:a="http://schemas.openxmlformats.org/drawingml/2006/main">
              <a:ext uri="{FF2B5EF4-FFF2-40B4-BE49-F238E27FC236}">
                <a16:creationId xmlns:a16="http://schemas.microsoft.com/office/drawing/2014/main" id="{D0102E31-32BD-4DF7-AE29-40A6401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666875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Create ordinary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Razorpay Order</a:t>
            </a:r>
          </a:p>
        </p:txBody>
      </p:sp>
      <p:sp>
        <p:nvSpPr>
          <p:cNvPr id="17" name="flow-num-3">
            <a:extLst xmlns:a="http://schemas.openxmlformats.org/drawingml/2006/main">
              <a:ext uri="{FF2B5EF4-FFF2-40B4-BE49-F238E27FC236}">
                <a16:creationId xmlns:a16="http://schemas.microsoft.com/office/drawing/2014/main" id="{6EB09894-5D70-46CA-8D26-154C4C5E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B6D4"/>
                </a:solidFill>
              </a:defRPr>
            </a:pPr>
            <a:r>
              <a:rPr sz="1050" b="1">
                <a:solidFill>
                  <a:srgbClr val="06B6D4"/>
                </a:solidFill>
              </a:rPr>
              <a:t>04</a:t>
            </a:r>
          </a:p>
        </p:txBody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E32C8C87-3DCB-4794-B11A-6B5B74A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666875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Before fulfilment: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ALLOW · RECONFIRM · ESCALATE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8F254E96-D136-4E55-9660-15695E3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9525">
            <a:solidFill>
              <a:srgbClr val="A7E5D3"/>
            </a:solidFill>
            <a:prstDash val="solid"/>
          </a:ln>
        </p:spPr>
      </p:sp>
      <p:sp>
        <p:nvSpPr>
          <p:cNvPr id="20" name="rule-text">
            <a:extLst xmlns:a="http://schemas.openxmlformats.org/drawingml/2006/main">
              <a:ext uri="{FF2B5EF4-FFF2-40B4-BE49-F238E27FC236}">
                <a16:creationId xmlns:a16="http://schemas.microsoft.com/office/drawing/2014/main" id="{28FA88E4-DC4B-4DD7-A8DA-1E5E8F47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0325100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47857"/>
                </a:solidFill>
              </a:defRPr>
            </a:pPr>
            <a:r>
              <a:rPr sz="1425" b="1">
                <a:solidFill>
                  <a:srgbClr val="047857"/>
                </a:solidFill>
              </a:rPr>
              <a:t>Seller/currency identity change → ESCALATE. Higher price, added item, later delivery or changed policy → RECONFIRM.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7E9B2B51-DDB1-4D23-8E99-25971D0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SETTLEX ATLAS  •  RAZORPAY BUILDATHON 2026  •  OPEN INNOVATION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F2439E9-A5FB-453A-9822-E7DB1C7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3977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803338D-1C43-4B7B-B80B-0EC72013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985"/>
                </a:solidFill>
              </a:defRPr>
            </a:pPr>
            <a:r>
              <a:rPr sz="975" b="1">
                <a:solidFill>
                  <a:srgbClr val="075985"/>
                </a:solidFill>
              </a:rPr>
              <a:t>INTEGRATION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D682F25-2278-40EB-ACF3-FE115C41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E"/>
                </a:solidFill>
              </a:defRPr>
            </a:pPr>
            <a:r>
              <a:rPr sz="3150" b="1">
                <a:solidFill>
                  <a:srgbClr val="10243E"/>
                </a:solidFill>
              </a:rPr>
              <a:t>Atlas fits between systems merchants already use.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D6FBB6E-47F1-405A-855B-11CC00B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620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E"/>
                </a:solidFill>
              </a:defRPr>
            </a:pPr>
            <a:r>
              <a:rPr sz="1500" b="0">
                <a:solidFill>
                  <a:srgbClr val="52657E"/>
                </a:solidFill>
              </a:rPr>
              <a:t>It does not collect credentials, replace checkout, or take over fulfilment.</a:t>
            </a:r>
          </a:p>
        </p:txBody>
      </p:sp>
      <p:sp>
        <p:nvSpPr>
          <p:cNvPr id="4" name="agent">
            <a:extLst xmlns:a="http://schemas.openxmlformats.org/drawingml/2006/main">
              <a:ext uri="{FF2B5EF4-FFF2-40B4-BE49-F238E27FC236}">
                <a16:creationId xmlns:a16="http://schemas.microsoft.com/office/drawing/2014/main" id="{AFD09CDA-4B12-4750-AA8C-50BC4183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21907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5" name="atlas">
            <a:extLst xmlns:a="http://schemas.openxmlformats.org/drawingml/2006/main">
              <a:ext uri="{FF2B5EF4-FFF2-40B4-BE49-F238E27FC236}">
                <a16:creationId xmlns:a16="http://schemas.microsoft.com/office/drawing/2014/main" id="{EF209AEF-DA33-47E1-ADB3-1947FEB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21907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7CC8F3"/>
            </a:solidFill>
            <a:prstDash val="solid"/>
          </a:ln>
        </p:spPr>
      </p:sp>
      <p:sp>
        <p:nvSpPr>
          <p:cNvPr id="6" name="razorpay">
            <a:extLst xmlns:a="http://schemas.openxmlformats.org/drawingml/2006/main">
              <a:ext uri="{FF2B5EF4-FFF2-40B4-BE49-F238E27FC236}">
                <a16:creationId xmlns:a16="http://schemas.microsoft.com/office/drawing/2014/main" id="{920CA36F-56F0-4191-A6B1-11A6D96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38375"/>
            <a:ext cx="2095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4FA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7" name="oms">
            <a:extLst xmlns:a="http://schemas.openxmlformats.org/drawingml/2006/main">
              <a:ext uri="{FF2B5EF4-FFF2-40B4-BE49-F238E27FC236}">
                <a16:creationId xmlns:a16="http://schemas.microsoft.com/office/drawing/2014/main" id="{D2FD2A9D-0A36-4FE4-AF54-C52418E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10000"/>
            <a:ext cx="2095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CB7A"/>
            </a:solidFill>
            <a:prstDash val="solid"/>
          </a:ln>
        </p:spPr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3424238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438900" y="2786063"/>
            <a:ext cx="1152525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38900" y="3424238"/>
            <a:ext cx="1152525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A98CE"/>
            </a:solidFill>
            <a:prstDash val="solid"/>
            <a:headEnd type="arrow" w="med" len="med"/>
          </a:ln>
        </p:spPr>
      </p:cxnSp>
      <p:sp>
        <p:nvSpPr>
          <p:cNvPr id="11" name="agent-text">
            <a:extLst xmlns:a="http://schemas.openxmlformats.org/drawingml/2006/main">
              <a:ext uri="{FF2B5EF4-FFF2-40B4-BE49-F238E27FC236}">
                <a16:creationId xmlns:a16="http://schemas.microsoft.com/office/drawing/2014/main" id="{4B423CF1-290B-4F47-A4EA-3F7E08E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1714500" cy="504825"/>
          </a:xfrm>
          <a:prstGeom xmlns:a="http://schemas.openxmlformats.org/drawingml/2006/main" prst="roundRect">
            <a:avLst>
              <a:gd name="adj" fmla="val 2264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Buyer agent</a:t>
            </a:r>
          </a:p>
          <a:p xmlns:a="http://schemas.openxmlformats.org/drawingml/2006/main">
            <a:pPr algn="l">
              <a:defRPr sz="1575" b="1">
                <a:solidFill>
                  <a:srgbClr val="10243E"/>
                </a:solidFill>
              </a:defRPr>
            </a:pPr>
            <a:r>
              <a:rPr sz="1575" b="1">
                <a:solidFill>
                  <a:srgbClr val="10243E"/>
                </a:solidFill>
              </a:rPr>
              <a:t>or merchant chat</a:t>
            </a:r>
          </a:p>
        </p:txBody>
      </p:sp>
      <p:sp>
        <p:nvSpPr>
          <p:cNvPr id="12" name="atlas-text">
            <a:extLst xmlns:a="http://schemas.openxmlformats.org/drawingml/2006/main">
              <a:ext uri="{FF2B5EF4-FFF2-40B4-BE49-F238E27FC236}">
                <a16:creationId xmlns:a16="http://schemas.microsoft.com/office/drawing/2014/main" id="{ADB14366-9638-4B5A-8EF5-D6BAB2EC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C5C"/>
                </a:solidFill>
              </a:defRPr>
            </a:pPr>
            <a:r>
              <a:rPr sz="1650" b="1">
                <a:solidFill>
                  <a:srgbClr val="082C5C"/>
                </a:solidFill>
              </a:rPr>
              <a:t>SettleX Atlas</a:t>
            </a:r>
          </a:p>
          <a:p xmlns:a="http://schemas.openxmlformats.org/drawingml/2006/main">
            <a:pPr algn="l">
              <a:defRPr sz="1650" b="1">
                <a:solidFill>
                  <a:srgbClr val="082C5C"/>
                </a:solidFill>
              </a:defRPr>
            </a:pPr>
            <a:r>
              <a:rPr sz="1650" b="1">
                <a:solidFill>
                  <a:srgbClr val="082C5C"/>
                </a:solidFill>
              </a:rPr>
              <a:t>Offer Lock</a:t>
            </a:r>
          </a:p>
        </p:txBody>
      </p:sp>
      <p:sp>
        <p:nvSpPr>
          <p:cNvPr id="13" name="rzp-text">
            <a:extLst xmlns:a="http://schemas.openxmlformats.org/drawingml/2006/main">
              <a:ext uri="{FF2B5EF4-FFF2-40B4-BE49-F238E27FC236}">
                <a16:creationId xmlns:a16="http://schemas.microsoft.com/office/drawing/2014/main" id="{FFFF2A9E-1DFF-4AB9-88F4-FA59A43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76500"/>
            <a:ext cx="16192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Razorpay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Order + webhooks</a:t>
            </a:r>
          </a:p>
        </p:txBody>
      </p:sp>
      <p:sp>
        <p:nvSpPr>
          <p:cNvPr id="14" name="oms-text">
            <a:extLst xmlns:a="http://schemas.openxmlformats.org/drawingml/2006/main">
              <a:ext uri="{FF2B5EF4-FFF2-40B4-BE49-F238E27FC236}">
                <a16:creationId xmlns:a16="http://schemas.microsoft.com/office/drawing/2014/main" id="{3B50343F-FDE4-4884-81E6-DAC4A7D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048125"/>
            <a:ext cx="1619250" cy="523875"/>
          </a:xfrm>
          <a:prstGeom xmlns:a="http://schemas.openxmlformats.org/drawingml/2006/main" prst="roundRect">
            <a:avLst>
              <a:gd name="adj" fmla="val 2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OMS / renewal</a:t>
            </a:r>
          </a:p>
          <a:p xmlns:a="http://schemas.openxmlformats.org/drawingml/2006/main"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/ support queue</a:t>
            </a:r>
          </a:p>
        </p:txBody>
      </p:sp>
      <p:sp>
        <p:nvSpPr>
          <p:cNvPr id="15" name="io">
            <a:extLst xmlns:a="http://schemas.openxmlformats.org/drawingml/2006/main">
              <a:ext uri="{FF2B5EF4-FFF2-40B4-BE49-F238E27FC236}">
                <a16:creationId xmlns:a16="http://schemas.microsoft.com/office/drawing/2014/main" id="{A4E48C09-477C-4A45-8097-1B886E4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9715500" cy="333375"/>
          </a:xfrm>
          <a:prstGeom xmlns:a="http://schemas.openxmlformats.org/drawingml/2006/main" prst="roundRect">
            <a:avLst>
              <a:gd name="adj" fmla="val 3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INPUT: structured offer + opaque approval ref  •  OUTPUT: signed proof + order notes + field-level decision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14D44EE4-7FC8-4C50-BCAD-8230DD9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SETTLEX ATLAS  •  RAZORPAY BUILDATHON 2026  •  OPEN INNOVATION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56C34F77-DEC3-40A3-B45F-B4B21D80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0776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BE2CFF7-77F6-4068-BB3D-F590632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858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5985"/>
                </a:solidFill>
              </a:defRPr>
            </a:pPr>
            <a:r>
              <a:rPr sz="975" b="1">
                <a:solidFill>
                  <a:srgbClr val="075985"/>
                </a:solidFill>
              </a:rPr>
              <a:t>MEANINGFUL AI, BOUNDED AT THE MONEY EDGE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9D15782-8BC0-4C7E-890B-F735AF5F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E"/>
                </a:solidFill>
              </a:defRPr>
            </a:pPr>
            <a:r>
              <a:rPr sz="3150" b="1">
                <a:solidFill>
                  <a:srgbClr val="10243E"/>
                </a:solidFill>
              </a:rPr>
              <a:t>AI drafts; deterministic code decides; the buyer consents.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455315F-1B39-48BE-8665-FCD77980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620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E"/>
                </a:solidFill>
              </a:defRPr>
            </a:pPr>
            <a:r>
              <a:rPr sz="1500" b="0">
                <a:solidFill>
                  <a:srgbClr val="52657E"/>
                </a:solidFill>
              </a:rPr>
              <a:t>That separation makes the AI useful without letting it invent commercial truth or execute money movement.</a:t>
            </a:r>
          </a:p>
        </p:txBody>
      </p:sp>
      <p:sp>
        <p:nvSpPr>
          <p:cNvPr id="4" name="guard-0">
            <a:extLst xmlns:a="http://schemas.openxmlformats.org/drawingml/2006/main">
              <a:ext uri="{FF2B5EF4-FFF2-40B4-BE49-F238E27FC236}">
                <a16:creationId xmlns:a16="http://schemas.microsoft.com/office/drawing/2014/main" id="{C3D6CDFC-703F-41AF-89E0-395C40D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5" name="guard-label-0">
            <a:extLst xmlns:a="http://schemas.openxmlformats.org/drawingml/2006/main">
              <a:ext uri="{FF2B5EF4-FFF2-40B4-BE49-F238E27FC236}">
                <a16:creationId xmlns:a16="http://schemas.microsoft.com/office/drawing/2014/main" id="{51F42EF7-6841-4F04-AD70-50E97A67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</a:defRPr>
            </a:pPr>
            <a:r>
              <a:rPr sz="1500" b="1">
                <a:solidFill>
                  <a:srgbClr val="6D28D9"/>
                </a:solidFill>
              </a:rPr>
              <a:t>AI may</a:t>
            </a:r>
          </a:p>
        </p:txBody>
      </p:sp>
      <p:sp>
        <p:nvSpPr>
          <p:cNvPr id="6" name="guard-detail-0">
            <a:extLst xmlns:a="http://schemas.openxmlformats.org/drawingml/2006/main">
              <a:ext uri="{FF2B5EF4-FFF2-40B4-BE49-F238E27FC236}">
                <a16:creationId xmlns:a16="http://schemas.microsoft.com/office/drawing/2014/main" id="{29152855-681A-40C2-8209-88E7D68E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14650"/>
            <a:ext cx="7334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E"/>
                </a:solidFill>
              </a:defRPr>
            </a:pPr>
            <a:r>
              <a:rPr sz="1350" b="0">
                <a:solidFill>
                  <a:srgbClr val="10243E"/>
                </a:solidFill>
              </a:rPr>
              <a:t>Translate natural language → known catalogue SKU + quantity; surface uncertainty.</a:t>
            </a:r>
          </a:p>
        </p:txBody>
      </p:sp>
      <p:sp>
        <p:nvSpPr>
          <p:cNvPr id="7" name="guard-1">
            <a:extLst xmlns:a="http://schemas.openxmlformats.org/drawingml/2006/main">
              <a:ext uri="{FF2B5EF4-FFF2-40B4-BE49-F238E27FC236}">
                <a16:creationId xmlns:a16="http://schemas.microsoft.com/office/drawing/2014/main" id="{6F65EDC9-9C26-490F-A839-4814BBC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8" name="guard-label-1">
            <a:extLst xmlns:a="http://schemas.openxmlformats.org/drawingml/2006/main">
              <a:ext uri="{FF2B5EF4-FFF2-40B4-BE49-F238E27FC236}">
                <a16:creationId xmlns:a16="http://schemas.microsoft.com/office/drawing/2014/main" id="{FDC9B0C2-01D7-40C0-BB0F-085644CC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5985"/>
                </a:solidFill>
              </a:defRPr>
            </a:pPr>
            <a:r>
              <a:rPr sz="1500" b="1">
                <a:solidFill>
                  <a:srgbClr val="075985"/>
                </a:solidFill>
              </a:rPr>
              <a:t>Code enforces</a:t>
            </a:r>
          </a:p>
        </p:txBody>
      </p:sp>
      <p:sp>
        <p:nvSpPr>
          <p:cNvPr id="9" name="guard-detail-1">
            <a:extLst xmlns:a="http://schemas.openxmlformats.org/drawingml/2006/main">
              <a:ext uri="{FF2B5EF4-FFF2-40B4-BE49-F238E27FC236}">
                <a16:creationId xmlns:a16="http://schemas.microsoft.com/office/drawing/2014/main" id="{17AEB39C-DEFD-4BEE-91F2-35A844A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7334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E"/>
                </a:solidFill>
              </a:defRPr>
            </a:pPr>
            <a:r>
              <a:rPr sz="1350" b="0">
                <a:solidFill>
                  <a:srgbClr val="10243E"/>
                </a:solidFill>
              </a:rPr>
              <a:t>Server hydrates price, delivery and policy. Unknown SKUs fail closed. Drift verdict is deterministic.</a:t>
            </a:r>
          </a:p>
        </p:txBody>
      </p:sp>
      <p:sp>
        <p:nvSpPr>
          <p:cNvPr id="10" name="guard-2">
            <a:extLst xmlns:a="http://schemas.openxmlformats.org/drawingml/2006/main">
              <a:ext uri="{FF2B5EF4-FFF2-40B4-BE49-F238E27FC236}">
                <a16:creationId xmlns:a16="http://schemas.microsoft.com/office/drawing/2014/main" id="{26710660-6714-40F8-A102-F59F4243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DF0"/>
            </a:solidFill>
            <a:prstDash val="solid"/>
          </a:ln>
        </p:spPr>
      </p:sp>
      <p:sp>
        <p:nvSpPr>
          <p:cNvPr id="11" name="guard-label-2">
            <a:extLst xmlns:a="http://schemas.openxmlformats.org/drawingml/2006/main">
              <a:ext uri="{FF2B5EF4-FFF2-40B4-BE49-F238E27FC236}">
                <a16:creationId xmlns:a16="http://schemas.microsoft.com/office/drawing/2014/main" id="{94EC40EE-380E-461A-BDF6-C6B02198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2476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7857"/>
                </a:solidFill>
              </a:defRPr>
            </a:pPr>
            <a:r>
              <a:rPr sz="1500" b="1">
                <a:solidFill>
                  <a:srgbClr val="047857"/>
                </a:solidFill>
              </a:rPr>
              <a:t>Buyer / operations decide</a:t>
            </a:r>
          </a:p>
        </p:txBody>
      </p:sp>
      <p:sp>
        <p:nvSpPr>
          <p:cNvPr id="12" name="guard-detail-2">
            <a:extLst xmlns:a="http://schemas.openxmlformats.org/drawingml/2006/main">
              <a:ext uri="{FF2B5EF4-FFF2-40B4-BE49-F238E27FC236}">
                <a16:creationId xmlns:a16="http://schemas.microsoft.com/office/drawing/2014/main" id="{7059CF78-3A7B-4972-9018-3F2DC7D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733425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E"/>
                </a:solidFill>
              </a:defRPr>
            </a:pPr>
            <a:r>
              <a:rPr sz="1350" b="0">
                <a:solidFill>
                  <a:srgbClr val="10243E"/>
                </a:solidFill>
              </a:rPr>
              <a:t>Explicitly sign the offer. Reconfirm on material change. Escalate identity changes to a human.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ECF6401-0D3B-4F3F-B0B1-A55B4614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SETTLEX ATLAS  •  RAZORPAY BUILDATHON 2026  •  OPEN INNOVATION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BB95C018-8312-445B-9B54-93D53F2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7769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C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8A0A75D-ED1C-4689-8A8F-10D6ED9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2095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WHY THIS IS READY FOR A REAL PILOT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1DB066E-8D5F-4AD1-B463-5182FBD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demo proves the control. The pilot proves the value.</a:t>
            </a:r>
          </a:p>
        </p:txBody>
      </p:sp>
      <p:sp>
        <p:nvSpPr>
          <p:cNvPr id="3" name="proof-0">
            <a:extLst xmlns:a="http://schemas.openxmlformats.org/drawingml/2006/main">
              <a:ext uri="{FF2B5EF4-FFF2-40B4-BE49-F238E27FC236}">
                <a16:creationId xmlns:a16="http://schemas.microsoft.com/office/drawing/2014/main" id="{BD605B2F-7B8B-40DA-AA4D-18AADF8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0670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23E73"/>
          </a:solidFill>
          <a:ln xmlns:a="http://schemas.openxmlformats.org/drawingml/2006/main" w="9525">
            <a:solidFill>
              <a:srgbClr val="2F6FA6"/>
            </a:solidFill>
            <a:prstDash val="solid"/>
          </a:ln>
        </p:spPr>
      </p:sp>
      <p:sp>
        <p:nvSpPr>
          <p:cNvPr id="4" name="proof-title-0">
            <a:extLst xmlns:a="http://schemas.openxmlformats.org/drawingml/2006/main">
              <a:ext uri="{FF2B5EF4-FFF2-40B4-BE49-F238E27FC236}">
                <a16:creationId xmlns:a16="http://schemas.microsoft.com/office/drawing/2014/main" id="{4D98D271-0CD6-44E1-92D2-D982FD6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95 automated checks</a:t>
            </a:r>
          </a:p>
        </p:txBody>
      </p:sp>
      <p:sp>
        <p:nvSpPr>
          <p:cNvPr id="5" name="proof-body-0">
            <a:extLst xmlns:a="http://schemas.openxmlformats.org/drawingml/2006/main">
              <a:ext uri="{FF2B5EF4-FFF2-40B4-BE49-F238E27FC236}">
                <a16:creationId xmlns:a16="http://schemas.microsoft.com/office/drawing/2014/main" id="{ACA870B4-4753-4952-8120-EEE64D4A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25717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6FA"/>
                </a:solidFill>
              </a:defRPr>
            </a:pPr>
            <a:r>
              <a:rPr sz="1200" b="0">
                <a:solidFill>
                  <a:srgbClr val="CFE6FA"/>
                </a:solidFill>
              </a:rPr>
              <a:t>Signature, notes capacity, bounded AI, route handling, durable store and webhook adapter.</a:t>
            </a:r>
          </a:p>
        </p:txBody>
      </p:sp>
      <p:sp>
        <p:nvSpPr>
          <p:cNvPr id="6" name="proof-1">
            <a:extLst xmlns:a="http://schemas.openxmlformats.org/drawingml/2006/main">
              <a:ext uri="{FF2B5EF4-FFF2-40B4-BE49-F238E27FC236}">
                <a16:creationId xmlns:a16="http://schemas.microsoft.com/office/drawing/2014/main" id="{8F026FC8-B148-4292-A54A-0A294F99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43150"/>
            <a:ext cx="30670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23E73"/>
          </a:solidFill>
          <a:ln xmlns:a="http://schemas.openxmlformats.org/drawingml/2006/main" w="9525">
            <a:solidFill>
              <a:srgbClr val="2F6FA6"/>
            </a:solidFill>
            <a:prstDash val="solid"/>
          </a:ln>
        </p:spPr>
      </p:sp>
      <p:sp>
        <p:nvSpPr>
          <p:cNvPr id="7" name="proof-title-1">
            <a:extLst xmlns:a="http://schemas.openxmlformats.org/drawingml/2006/main">
              <a:ext uri="{FF2B5EF4-FFF2-40B4-BE49-F238E27FC236}">
                <a16:creationId xmlns:a16="http://schemas.microsoft.com/office/drawing/2014/main" id="{F08713F8-0F6F-4EA4-8B64-2253FB9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28900"/>
            <a:ext cx="25717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Real Test Mode order artifact</a:t>
            </a:r>
          </a:p>
        </p:txBody>
      </p:sp>
      <p:sp>
        <p:nvSpPr>
          <p:cNvPr id="8" name="proof-body-1">
            <a:extLst xmlns:a="http://schemas.openxmlformats.org/drawingml/2006/main">
              <a:ext uri="{FF2B5EF4-FFF2-40B4-BE49-F238E27FC236}">
                <a16:creationId xmlns:a16="http://schemas.microsoft.com/office/drawing/2014/main" id="{ED947ED9-A729-4177-9B6E-2C815F8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86125"/>
            <a:ext cx="25717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6FA"/>
                </a:solidFill>
              </a:defRPr>
            </a:pPr>
            <a:r>
              <a:rPr sz="1200" b="0">
                <a:solidFill>
                  <a:srgbClr val="CFE6FA"/>
                </a:solidFill>
              </a:rPr>
              <a:t>Official SDK created and fetched an unpaid order carrying all 15 permitted note fields.</a:t>
            </a:r>
          </a:p>
        </p:txBody>
      </p:sp>
      <p:sp>
        <p:nvSpPr>
          <p:cNvPr id="9" name="proof-2">
            <a:extLst xmlns:a="http://schemas.openxmlformats.org/drawingml/2006/main">
              <a:ext uri="{FF2B5EF4-FFF2-40B4-BE49-F238E27FC236}">
                <a16:creationId xmlns:a16="http://schemas.microsoft.com/office/drawing/2014/main" id="{584237B1-33A1-4674-B010-5A720595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43150"/>
            <a:ext cx="30670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23E73"/>
          </a:solidFill>
          <a:ln xmlns:a="http://schemas.openxmlformats.org/drawingml/2006/main" w="9525">
            <a:solidFill>
              <a:srgbClr val="2F6FA6"/>
            </a:solidFill>
            <a:prstDash val="solid"/>
          </a:ln>
        </p:spPr>
      </p:sp>
      <p:sp>
        <p:nvSpPr>
          <p:cNvPr id="10" name="proof-title-2">
            <a:extLst xmlns:a="http://schemas.openxmlformats.org/drawingml/2006/main">
              <a:ext uri="{FF2B5EF4-FFF2-40B4-BE49-F238E27FC236}">
                <a16:creationId xmlns:a16="http://schemas.microsoft.com/office/drawing/2014/main" id="{BBA1E560-5A5B-4511-B9F3-F7925FC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25717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Durable local evidence</a:t>
            </a:r>
          </a:p>
        </p:txBody>
      </p:sp>
      <p:sp>
        <p:nvSpPr>
          <p:cNvPr id="11" name="proof-body-2">
            <a:extLst xmlns:a="http://schemas.openxmlformats.org/drawingml/2006/main">
              <a:ext uri="{FF2B5EF4-FFF2-40B4-BE49-F238E27FC236}">
                <a16:creationId xmlns:a16="http://schemas.microsoft.com/office/drawing/2014/main" id="{9D78D04A-10D8-4F2C-AF4C-9302020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2571750" cy="647700"/>
          </a:xfrm>
          <a:prstGeom xmlns:a="http://schemas.openxmlformats.org/drawingml/2006/main" prst="roundRect">
            <a:avLst>
              <a:gd name="adj" fmla="val 1764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6FA"/>
                </a:solidFill>
              </a:defRPr>
            </a:pPr>
            <a:r>
              <a:rPr sz="1200" b="0">
                <a:solidFill>
                  <a:srgbClr val="CFE6FA"/>
                </a:solidFill>
              </a:rPr>
              <a:t>Signed Offer Lock survived an actual server restart; no raw buyer text in notes.</a:t>
            </a:r>
          </a:p>
        </p:txBody>
      </p:sp>
      <p:sp>
        <p:nvSpPr>
          <p:cNvPr id="12" name="ask">
            <a:extLst xmlns:a="http://schemas.openxmlformats.org/drawingml/2006/main">
              <a:ext uri="{FF2B5EF4-FFF2-40B4-BE49-F238E27FC236}">
                <a16:creationId xmlns:a16="http://schemas.microsoft.com/office/drawing/2014/main" id="{51101685-EFBE-4F62-BAE3-15247045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9525">
            <a:solidFill>
              <a:srgbClr val="A7E5D3"/>
            </a:solidFill>
            <a:prstDash val="solid"/>
          </a:ln>
        </p:spPr>
      </p:sp>
      <p:sp>
        <p:nvSpPr>
          <p:cNvPr id="13" name="ask-title">
            <a:extLst xmlns:a="http://schemas.openxmlformats.org/drawingml/2006/main">
              <a:ext uri="{FF2B5EF4-FFF2-40B4-BE49-F238E27FC236}">
                <a16:creationId xmlns:a16="http://schemas.microsoft.com/office/drawing/2014/main" id="{BE410047-9345-48CC-B24A-843BA12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763125" cy="238125"/>
          </a:xfrm>
          <a:prstGeom xmlns:a="http://schemas.openxmlformats.org/drawingml/2006/main" prst="roundRect">
            <a:avLst>
              <a:gd name="adj" fmla="val 48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47857"/>
                </a:solidFill>
              </a:defRPr>
            </a:pPr>
            <a:r>
              <a:rPr sz="1500" b="1">
                <a:solidFill>
                  <a:srgbClr val="047857"/>
                </a:solidFill>
              </a:rPr>
              <a:t>Pilot ask: shadow one high-drift merchant flow for 30 days—substitution, delivery change or renewal.</a:t>
            </a:r>
          </a:p>
        </p:txBody>
      </p:sp>
      <p:sp>
        <p:nvSpPr>
          <p:cNvPr id="14" name="ask-body">
            <a:extLst xmlns:a="http://schemas.openxmlformats.org/drawingml/2006/main">
              <a:ext uri="{FF2B5EF4-FFF2-40B4-BE49-F238E27FC236}">
                <a16:creationId xmlns:a16="http://schemas.microsoft.com/office/drawing/2014/main" id="{516D39B1-2249-42DF-9512-EE284E1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9858375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43E"/>
                </a:solidFill>
              </a:defRPr>
            </a:pPr>
            <a:r>
              <a:rPr sz="1200" b="0">
                <a:solidFill>
                  <a:srgbClr val="10243E"/>
                </a:solidFill>
              </a:rPr>
              <a:t>Measure silent drift caught, reviewer agreement, evidence completeness and time-to-resolution before enabling a reconfirmation gate.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33891779-0DA0-4FD1-B8DC-DF058E6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SETTLEX ATLAS  •  RAZORPAY BUILDATHON 2026  •  OPEN INNOVATION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C170A178-7B16-4E12-9666-2F51D3DB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B91AA"/>
                </a:solidFill>
              </a:defRPr>
            </a:pPr>
            <a:r>
              <a:rPr sz="825" b="1">
                <a:solidFill>
                  <a:srgbClr val="7B91A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9135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2026-08-28T21:01:23.5840000Z</dcterms:created>
  <dcterms:modified xsi:type="dcterms:W3CDTF">2026-08-28T21:01:23.5840000Z</dcterms:modified>
</coreProperties>
</file>